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Host Grotesk" panose="020B0604020202020204" charset="0"/>
      <p:regular r:id="rId17"/>
    </p:embeddedFont>
    <p:embeddedFont>
      <p:font typeface="Host Grotesk Bold" panose="020B0604020202020204" charset="0"/>
      <p:regular r:id="rId18"/>
    </p:embeddedFont>
    <p:embeddedFont>
      <p:font typeface="Host Grotesk SemiBold" panose="020B0604020202020204" charset="0"/>
      <p:regular r:id="rId19"/>
    </p:embeddedFont>
    <p:embeddedFont>
      <p:font typeface="Red Hat Mono SemiBold" panose="020B0604020202020204" charset="0"/>
      <p:regular r:id="rId20"/>
    </p:embeddedFont>
    <p:embeddedFont>
      <p:font typeface="Sofia Sans Extra Condensed Black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C5080A-1E3E-4C93-AC41-FF1A644D2F5B}" v="4" dt="2026-10-19T04:45:37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 Mahajan" userId="0a3426acc2b1053c" providerId="LiveId" clId="{8D0C48EC-9AEE-4607-80EA-9884BCA491CD}"/>
    <pc:docChg chg="custSel modSld">
      <pc:chgData name="Om Mahajan" userId="0a3426acc2b1053c" providerId="LiveId" clId="{8D0C48EC-9AEE-4607-80EA-9884BCA491CD}" dt="2026-10-19T04:46:44.520" v="34" actId="22"/>
      <pc:docMkLst>
        <pc:docMk/>
      </pc:docMkLst>
      <pc:sldChg chg="addSp delSp modSp mod">
        <pc:chgData name="Om Mahajan" userId="0a3426acc2b1053c" providerId="LiveId" clId="{8D0C48EC-9AEE-4607-80EA-9884BCA491CD}" dt="2026-10-19T04:46:21.291" v="25" actId="1076"/>
        <pc:sldMkLst>
          <pc:docMk/>
          <pc:sldMk cId="0" sldId="256"/>
        </pc:sldMkLst>
        <pc:spChg chg="mod">
          <ac:chgData name="Om Mahajan" userId="0a3426acc2b1053c" providerId="LiveId" clId="{8D0C48EC-9AEE-4607-80EA-9884BCA491CD}" dt="2026-10-19T04:40:49.153" v="2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Om Mahajan" userId="0a3426acc2b1053c" providerId="LiveId" clId="{8D0C48EC-9AEE-4607-80EA-9884BCA491CD}" dt="2026-10-19T04:40:49.146" v="1" actId="27636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Om Mahajan" userId="0a3426acc2b1053c" providerId="LiveId" clId="{8D0C48EC-9AEE-4607-80EA-9884BCA491CD}" dt="2026-10-19T04:40:50.770" v="9"/>
          <ac:spMkLst>
            <pc:docMk/>
            <pc:sldMk cId="0" sldId="256"/>
            <ac:spMk id="8" creationId="{D6758C0F-A3D8-9B98-3073-A96228851218}"/>
          </ac:spMkLst>
        </pc:spChg>
        <pc:spChg chg="add del mod">
          <ac:chgData name="Om Mahajan" userId="0a3426acc2b1053c" providerId="LiveId" clId="{8D0C48EC-9AEE-4607-80EA-9884BCA491CD}" dt="2026-10-19T04:45:35.673" v="12"/>
          <ac:spMkLst>
            <pc:docMk/>
            <pc:sldMk cId="0" sldId="256"/>
            <ac:spMk id="9" creationId="{1C083989-01C2-4279-A0B4-20BE230DBE5F}"/>
          </ac:spMkLst>
        </pc:spChg>
        <pc:spChg chg="add del mod">
          <ac:chgData name="Om Mahajan" userId="0a3426acc2b1053c" providerId="LiveId" clId="{8D0C48EC-9AEE-4607-80EA-9884BCA491CD}" dt="2026-10-19T04:45:37.584" v="15"/>
          <ac:spMkLst>
            <pc:docMk/>
            <pc:sldMk cId="0" sldId="256"/>
            <ac:spMk id="10" creationId="{737BC1D8-B958-94B7-0F48-1D61BB9199A8}"/>
          </ac:spMkLst>
        </pc:spChg>
        <pc:spChg chg="add del mod">
          <ac:chgData name="Om Mahajan" userId="0a3426acc2b1053c" providerId="LiveId" clId="{8D0C48EC-9AEE-4607-80EA-9884BCA491CD}" dt="2026-10-19T04:46:08.792" v="22"/>
          <ac:spMkLst>
            <pc:docMk/>
            <pc:sldMk cId="0" sldId="256"/>
            <ac:spMk id="11" creationId="{D58B1DF1-0385-FC0F-73C3-02F3A4A545A2}"/>
          </ac:spMkLst>
        </pc:spChg>
        <pc:spChg chg="add mod">
          <ac:chgData name="Om Mahajan" userId="0a3426acc2b1053c" providerId="LiveId" clId="{8D0C48EC-9AEE-4607-80EA-9884BCA491CD}" dt="2026-10-19T04:46:21.291" v="25" actId="1076"/>
          <ac:spMkLst>
            <pc:docMk/>
            <pc:sldMk cId="0" sldId="256"/>
            <ac:spMk id="12" creationId="{BF3854CE-3AA7-8920-C612-791FCBD55D4F}"/>
          </ac:spMkLst>
        </pc:spChg>
      </pc:sldChg>
      <pc:sldChg chg="addSp mod">
        <pc:chgData name="Om Mahajan" userId="0a3426acc2b1053c" providerId="LiveId" clId="{8D0C48EC-9AEE-4607-80EA-9884BCA491CD}" dt="2026-10-19T04:46:24.209" v="26" actId="22"/>
        <pc:sldMkLst>
          <pc:docMk/>
          <pc:sldMk cId="0" sldId="257"/>
        </pc:sldMkLst>
        <pc:spChg chg="add">
          <ac:chgData name="Om Mahajan" userId="0a3426acc2b1053c" providerId="LiveId" clId="{8D0C48EC-9AEE-4607-80EA-9884BCA491CD}" dt="2026-10-19T04:46:24.209" v="26" actId="22"/>
          <ac:spMkLst>
            <pc:docMk/>
            <pc:sldMk cId="0" sldId="257"/>
            <ac:spMk id="22" creationId="{5A530B2C-0E73-052B-8DCD-D8145214E7AD}"/>
          </ac:spMkLst>
        </pc:spChg>
      </pc:sldChg>
      <pc:sldChg chg="addSp modSp mod">
        <pc:chgData name="Om Mahajan" userId="0a3426acc2b1053c" providerId="LiveId" clId="{8D0C48EC-9AEE-4607-80EA-9884BCA491CD}" dt="2026-10-19T04:46:30.642" v="28" actId="14100"/>
        <pc:sldMkLst>
          <pc:docMk/>
          <pc:sldMk cId="0" sldId="258"/>
        </pc:sldMkLst>
        <pc:spChg chg="add mod">
          <ac:chgData name="Om Mahajan" userId="0a3426acc2b1053c" providerId="LiveId" clId="{8D0C48EC-9AEE-4607-80EA-9884BCA491CD}" dt="2026-10-19T04:46:30.642" v="28" actId="14100"/>
          <ac:spMkLst>
            <pc:docMk/>
            <pc:sldMk cId="0" sldId="258"/>
            <ac:spMk id="40" creationId="{886F2E2A-6099-AF21-7E6F-F9D837487DC0}"/>
          </ac:spMkLst>
        </pc:spChg>
      </pc:sldChg>
      <pc:sldChg chg="addSp modSp mod">
        <pc:chgData name="Om Mahajan" userId="0a3426acc2b1053c" providerId="LiveId" clId="{8D0C48EC-9AEE-4607-80EA-9884BCA491CD}" dt="2026-10-19T04:46:33.828" v="29" actId="22"/>
        <pc:sldMkLst>
          <pc:docMk/>
          <pc:sldMk cId="0" sldId="259"/>
        </pc:sldMkLst>
        <pc:spChg chg="mod">
          <ac:chgData name="Om Mahajan" userId="0a3426acc2b1053c" providerId="LiveId" clId="{8D0C48EC-9AEE-4607-80EA-9884BCA491CD}" dt="2026-10-19T04:40:49.168" v="3" actId="2763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Om Mahajan" userId="0a3426acc2b1053c" providerId="LiveId" clId="{8D0C48EC-9AEE-4607-80EA-9884BCA491CD}" dt="2026-10-19T04:40:49.168" v="4" actId="27636"/>
          <ac:spMkLst>
            <pc:docMk/>
            <pc:sldMk cId="0" sldId="259"/>
            <ac:spMk id="14" creationId="{00000000-0000-0000-0000-000000000000}"/>
          </ac:spMkLst>
        </pc:spChg>
        <pc:spChg chg="add">
          <ac:chgData name="Om Mahajan" userId="0a3426acc2b1053c" providerId="LiveId" clId="{8D0C48EC-9AEE-4607-80EA-9884BCA491CD}" dt="2026-10-19T04:46:33.828" v="29" actId="22"/>
          <ac:spMkLst>
            <pc:docMk/>
            <pc:sldMk cId="0" sldId="259"/>
            <ac:spMk id="27" creationId="{F2F5F36C-9163-B227-B6DF-7BFA5EF57C1E}"/>
          </ac:spMkLst>
        </pc:spChg>
      </pc:sldChg>
      <pc:sldChg chg="addSp mod">
        <pc:chgData name="Om Mahajan" userId="0a3426acc2b1053c" providerId="LiveId" clId="{8D0C48EC-9AEE-4607-80EA-9884BCA491CD}" dt="2026-10-19T04:46:35.691" v="30" actId="22"/>
        <pc:sldMkLst>
          <pc:docMk/>
          <pc:sldMk cId="0" sldId="260"/>
        </pc:sldMkLst>
        <pc:spChg chg="add">
          <ac:chgData name="Om Mahajan" userId="0a3426acc2b1053c" providerId="LiveId" clId="{8D0C48EC-9AEE-4607-80EA-9884BCA491CD}" dt="2026-10-19T04:46:35.691" v="30" actId="22"/>
          <ac:spMkLst>
            <pc:docMk/>
            <pc:sldMk cId="0" sldId="260"/>
            <ac:spMk id="18" creationId="{F44F20DE-1A4A-A225-5359-D4BF35267A63}"/>
          </ac:spMkLst>
        </pc:spChg>
      </pc:sldChg>
      <pc:sldChg chg="addSp mod">
        <pc:chgData name="Om Mahajan" userId="0a3426acc2b1053c" providerId="LiveId" clId="{8D0C48EC-9AEE-4607-80EA-9884BCA491CD}" dt="2026-10-19T04:46:37.696" v="31" actId="22"/>
        <pc:sldMkLst>
          <pc:docMk/>
          <pc:sldMk cId="0" sldId="261"/>
        </pc:sldMkLst>
        <pc:spChg chg="add">
          <ac:chgData name="Om Mahajan" userId="0a3426acc2b1053c" providerId="LiveId" clId="{8D0C48EC-9AEE-4607-80EA-9884BCA491CD}" dt="2026-10-19T04:46:37.696" v="31" actId="22"/>
          <ac:spMkLst>
            <pc:docMk/>
            <pc:sldMk cId="0" sldId="261"/>
            <ac:spMk id="12" creationId="{B3846363-7E52-D546-FD9D-AD140AE4FF14}"/>
          </ac:spMkLst>
        </pc:spChg>
      </pc:sldChg>
      <pc:sldChg chg="addSp mod">
        <pc:chgData name="Om Mahajan" userId="0a3426acc2b1053c" providerId="LiveId" clId="{8D0C48EC-9AEE-4607-80EA-9884BCA491CD}" dt="2026-10-19T04:46:40.086" v="32" actId="22"/>
        <pc:sldMkLst>
          <pc:docMk/>
          <pc:sldMk cId="0" sldId="262"/>
        </pc:sldMkLst>
        <pc:spChg chg="add">
          <ac:chgData name="Om Mahajan" userId="0a3426acc2b1053c" providerId="LiveId" clId="{8D0C48EC-9AEE-4607-80EA-9884BCA491CD}" dt="2026-10-19T04:46:40.086" v="32" actId="22"/>
          <ac:spMkLst>
            <pc:docMk/>
            <pc:sldMk cId="0" sldId="262"/>
            <ac:spMk id="14" creationId="{5552C990-8F0B-1412-0D21-E2767E7C6D27}"/>
          </ac:spMkLst>
        </pc:spChg>
      </pc:sldChg>
      <pc:sldChg chg="addSp modSp mod">
        <pc:chgData name="Om Mahajan" userId="0a3426acc2b1053c" providerId="LiveId" clId="{8D0C48EC-9AEE-4607-80EA-9884BCA491CD}" dt="2026-10-19T04:46:42.088" v="33" actId="22"/>
        <pc:sldMkLst>
          <pc:docMk/>
          <pc:sldMk cId="0" sldId="263"/>
        </pc:sldMkLst>
        <pc:spChg chg="mod">
          <ac:chgData name="Om Mahajan" userId="0a3426acc2b1053c" providerId="LiveId" clId="{8D0C48EC-9AEE-4607-80EA-9884BCA491CD}" dt="2026-10-19T04:40:49.216" v="5" actId="27636"/>
          <ac:spMkLst>
            <pc:docMk/>
            <pc:sldMk cId="0" sldId="263"/>
            <ac:spMk id="4" creationId="{00000000-0000-0000-0000-000000000000}"/>
          </ac:spMkLst>
        </pc:spChg>
        <pc:spChg chg="add">
          <ac:chgData name="Om Mahajan" userId="0a3426acc2b1053c" providerId="LiveId" clId="{8D0C48EC-9AEE-4607-80EA-9884BCA491CD}" dt="2026-10-19T04:46:42.088" v="33" actId="22"/>
          <ac:spMkLst>
            <pc:docMk/>
            <pc:sldMk cId="0" sldId="263"/>
            <ac:spMk id="25" creationId="{B192C2EA-0BF0-D818-5119-BC82C930A7C3}"/>
          </ac:spMkLst>
        </pc:spChg>
      </pc:sldChg>
      <pc:sldChg chg="addSp modSp mod">
        <pc:chgData name="Om Mahajan" userId="0a3426acc2b1053c" providerId="LiveId" clId="{8D0C48EC-9AEE-4607-80EA-9884BCA491CD}" dt="2026-10-19T04:46:44.520" v="34" actId="22"/>
        <pc:sldMkLst>
          <pc:docMk/>
          <pc:sldMk cId="0" sldId="264"/>
        </pc:sldMkLst>
        <pc:spChg chg="mod">
          <ac:chgData name="Om Mahajan" userId="0a3426acc2b1053c" providerId="LiveId" clId="{8D0C48EC-9AEE-4607-80EA-9884BCA491CD}" dt="2026-10-19T04:40:49.232" v="6" actId="27636"/>
          <ac:spMkLst>
            <pc:docMk/>
            <pc:sldMk cId="0" sldId="264"/>
            <ac:spMk id="2" creationId="{00000000-0000-0000-0000-000000000000}"/>
          </ac:spMkLst>
        </pc:spChg>
        <pc:spChg chg="add">
          <ac:chgData name="Om Mahajan" userId="0a3426acc2b1053c" providerId="LiveId" clId="{8D0C48EC-9AEE-4607-80EA-9884BCA491CD}" dt="2026-10-19T04:46:44.520" v="34" actId="22"/>
          <ac:spMkLst>
            <pc:docMk/>
            <pc:sldMk cId="0" sldId="264"/>
            <ac:spMk id="11" creationId="{D5E805E4-FA66-F035-586B-527CDBA57967}"/>
          </ac:spMkLst>
        </pc:spChg>
      </pc:sldChg>
      <pc:sldChg chg="modSp mod">
        <pc:chgData name="Om Mahajan" userId="0a3426acc2b1053c" providerId="LiveId" clId="{8D0C48EC-9AEE-4607-80EA-9884BCA491CD}" dt="2026-10-19T04:40:49.248" v="7" actId="27636"/>
        <pc:sldMkLst>
          <pc:docMk/>
          <pc:sldMk cId="0" sldId="265"/>
        </pc:sldMkLst>
        <pc:spChg chg="mod">
          <ac:chgData name="Om Mahajan" userId="0a3426acc2b1053c" providerId="LiveId" clId="{8D0C48EC-9AEE-4607-80EA-9884BCA491CD}" dt="2026-10-19T04:40:49.248" v="7" actId="27636"/>
          <ac:spMkLst>
            <pc:docMk/>
            <pc:sldMk cId="0" sldId="265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30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1D3BE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711182" y="835241"/>
            <a:ext cx="66038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FFE83D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DESIGN AND ANALYSIS OF ALGORITHMS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1182" y="1386284"/>
            <a:ext cx="6299042" cy="335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15000" kern="100" spc="-75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MERGE</a:t>
            </a:r>
            <a:endParaRPr lang="en-US" sz="15000" dirty="0"/>
          </a:p>
          <a:p>
            <a:pPr marL="0" indent="0" algn="l">
              <a:lnSpc>
                <a:spcPct val="73000"/>
              </a:lnSpc>
              <a:buNone/>
            </a:pPr>
            <a:r>
              <a:rPr lang="en-US" sz="15000" kern="100" spc="-75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SORT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711182" y="4831885"/>
            <a:ext cx="6299042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Understanding the Divide and Conquer Algorithm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1183" y="5708252"/>
            <a:ext cx="3355492" cy="844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Name : Om Mahajan 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PRN : 25070521165</a:t>
            </a: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014" y="406400"/>
            <a:ext cx="4241694" cy="61468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F3854CE-3AA7-8920-C612-791FCBD55D4F}"/>
              </a:ext>
            </a:extLst>
          </p:cNvPr>
          <p:cNvSpPr/>
          <p:nvPr/>
        </p:nvSpPr>
        <p:spPr>
          <a:xfrm>
            <a:off x="10740189" y="6013053"/>
            <a:ext cx="1451811" cy="84494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WHY MERGE SORT USES DIVIDE AND CONQUER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189" y="1201737"/>
            <a:ext cx="117345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large sorting problem becomes a set of small, manageable decisions.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189" y="17526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189" y="2108200"/>
            <a:ext cx="3555812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2296380"/>
            <a:ext cx="355591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Divide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189" y="2793008"/>
            <a:ext cx="355591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Split the array into two halves.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17892" y="17526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17892" y="2108200"/>
            <a:ext cx="3555812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0" name="Text 8"/>
          <p:cNvSpPr/>
          <p:nvPr/>
        </p:nvSpPr>
        <p:spPr>
          <a:xfrm>
            <a:off x="4317892" y="2296380"/>
            <a:ext cx="355591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Conquer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17892" y="2793008"/>
            <a:ext cx="355591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Recursively sort each half.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78595" y="17526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178595" y="2108200"/>
            <a:ext cx="3555812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4" name="Text 12"/>
          <p:cNvSpPr/>
          <p:nvPr/>
        </p:nvSpPr>
        <p:spPr>
          <a:xfrm>
            <a:off x="8178595" y="2296380"/>
            <a:ext cx="355591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Combine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78595" y="2793008"/>
            <a:ext cx="355591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Merge the sorted halves.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189" y="3343870"/>
            <a:ext cx="5486263" cy="157222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17" name="Text 15"/>
          <p:cNvSpPr/>
          <p:nvPr/>
        </p:nvSpPr>
        <p:spPr>
          <a:xfrm>
            <a:off x="711182" y="3563800"/>
            <a:ext cx="497827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The stopping rule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11182" y="4060428"/>
            <a:ext cx="4978275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subarray with zero or one element is already sorted.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48244" y="3343870"/>
            <a:ext cx="5486263" cy="1572220"/>
          </a:xfrm>
          <a:prstGeom prst="rect">
            <a:avLst/>
          </a:prstGeom>
          <a:solidFill>
            <a:srgbClr val="FFE83D"/>
          </a:solidFill>
          <a:ln/>
        </p:spPr>
      </p:sp>
      <p:sp>
        <p:nvSpPr>
          <p:cNvPr id="20" name="Text 18"/>
          <p:cNvSpPr/>
          <p:nvPr/>
        </p:nvSpPr>
        <p:spPr>
          <a:xfrm>
            <a:off x="6502237" y="3547070"/>
            <a:ext cx="4978275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Example</a:t>
            </a:r>
            <a:endParaRPr lang="en-US" sz="2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[38, 27, 43, 3, 9, 82, 10] → [3, 9, 10, 27, 38, 43, 82]</a:t>
            </a:r>
            <a:endParaRPr lang="en-US" sz="2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530B2C-0E73-052B-8DCD-D8145214E7AD}"/>
              </a:ext>
            </a:extLst>
          </p:cNvPr>
          <p:cNvSpPr/>
          <p:nvPr/>
        </p:nvSpPr>
        <p:spPr>
          <a:xfrm>
            <a:off x="10740189" y="6013053"/>
            <a:ext cx="1451811" cy="84494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DIVISION CREATES THE RECURSION TREE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189" y="1201737"/>
            <a:ext cx="117345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Keep splitting at the midpoint until every leaf contains one element.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189" y="2090556"/>
            <a:ext cx="21944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LEVEL 0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956347" y="1854200"/>
            <a:ext cx="8778159" cy="95885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6" name="Text 4"/>
          <p:cNvSpPr/>
          <p:nvPr/>
        </p:nvSpPr>
        <p:spPr>
          <a:xfrm>
            <a:off x="3184941" y="2090737"/>
            <a:ext cx="854956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[38, 27, 43, 3, 9, 82, 10]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189" y="3252606"/>
            <a:ext cx="21335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LEVEL 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95428" y="3016250"/>
            <a:ext cx="4267192" cy="95885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9" name="Text 7"/>
          <p:cNvSpPr/>
          <p:nvPr/>
        </p:nvSpPr>
        <p:spPr>
          <a:xfrm>
            <a:off x="3124023" y="3252787"/>
            <a:ext cx="403859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[38, 27, 43, 3]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467314" y="3016250"/>
            <a:ext cx="4267192" cy="95885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11" name="Text 9"/>
          <p:cNvSpPr/>
          <p:nvPr/>
        </p:nvSpPr>
        <p:spPr>
          <a:xfrm>
            <a:off x="7695908" y="3252787"/>
            <a:ext cx="403859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[9, 82, 10]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189" y="4414656"/>
            <a:ext cx="21335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LEVEL 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743032" y="4178300"/>
            <a:ext cx="2133646" cy="95885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14" name="Text 12"/>
          <p:cNvSpPr/>
          <p:nvPr/>
        </p:nvSpPr>
        <p:spPr>
          <a:xfrm>
            <a:off x="2971626" y="4414837"/>
            <a:ext cx="190505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[38, 27]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28975" y="4178300"/>
            <a:ext cx="2133646" cy="95885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569" y="4414837"/>
            <a:ext cx="190505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[43, 3]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4918" y="4178300"/>
            <a:ext cx="2133646" cy="95885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512" y="4414837"/>
            <a:ext cx="190505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[9, 82]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600861" y="4178300"/>
            <a:ext cx="2133646" cy="95885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20" name="Text 18"/>
          <p:cNvSpPr/>
          <p:nvPr/>
        </p:nvSpPr>
        <p:spPr>
          <a:xfrm>
            <a:off x="9829455" y="4414837"/>
            <a:ext cx="190505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[10]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189" y="5576706"/>
            <a:ext cx="187191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LEVEL 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481498" y="5340350"/>
            <a:ext cx="1191290" cy="958850"/>
          </a:xfrm>
          <a:prstGeom prst="rect">
            <a:avLst/>
          </a:prstGeom>
          <a:solidFill>
            <a:srgbClr val="FFE83D"/>
          </a:solidFill>
          <a:ln/>
        </p:spPr>
      </p:sp>
      <p:sp>
        <p:nvSpPr>
          <p:cNvPr id="23" name="Text 21"/>
          <p:cNvSpPr/>
          <p:nvPr/>
        </p:nvSpPr>
        <p:spPr>
          <a:xfrm>
            <a:off x="2710092" y="5576887"/>
            <a:ext cx="96269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[38]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825184" y="5340350"/>
            <a:ext cx="1191191" cy="958850"/>
          </a:xfrm>
          <a:prstGeom prst="rect">
            <a:avLst/>
          </a:prstGeom>
          <a:solidFill>
            <a:srgbClr val="FFE83D"/>
          </a:solidFill>
          <a:ln/>
        </p:spPr>
      </p:sp>
      <p:sp>
        <p:nvSpPr>
          <p:cNvPr id="25" name="Text 23"/>
          <p:cNvSpPr/>
          <p:nvPr/>
        </p:nvSpPr>
        <p:spPr>
          <a:xfrm>
            <a:off x="4053778" y="5576887"/>
            <a:ext cx="96259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[27]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168771" y="5340350"/>
            <a:ext cx="1191191" cy="958850"/>
          </a:xfrm>
          <a:prstGeom prst="rect">
            <a:avLst/>
          </a:prstGeom>
          <a:solidFill>
            <a:srgbClr val="FFE83D"/>
          </a:solidFill>
          <a:ln/>
        </p:spPr>
      </p:sp>
      <p:sp>
        <p:nvSpPr>
          <p:cNvPr id="27" name="Text 25"/>
          <p:cNvSpPr/>
          <p:nvPr/>
        </p:nvSpPr>
        <p:spPr>
          <a:xfrm>
            <a:off x="5397365" y="5576887"/>
            <a:ext cx="96259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[43]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512258" y="5340350"/>
            <a:ext cx="1191389" cy="958850"/>
          </a:xfrm>
          <a:prstGeom prst="rect">
            <a:avLst/>
          </a:prstGeom>
          <a:solidFill>
            <a:srgbClr val="FFE83D"/>
          </a:solidFill>
          <a:ln/>
        </p:spPr>
      </p:sp>
      <p:sp>
        <p:nvSpPr>
          <p:cNvPr id="29" name="Text 27"/>
          <p:cNvSpPr/>
          <p:nvPr/>
        </p:nvSpPr>
        <p:spPr>
          <a:xfrm>
            <a:off x="6740852" y="5576887"/>
            <a:ext cx="96279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[3]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855944" y="5340350"/>
            <a:ext cx="1191290" cy="958850"/>
          </a:xfrm>
          <a:prstGeom prst="rect">
            <a:avLst/>
          </a:prstGeom>
          <a:solidFill>
            <a:srgbClr val="FFE83D"/>
          </a:solidFill>
          <a:ln/>
        </p:spPr>
      </p:sp>
      <p:sp>
        <p:nvSpPr>
          <p:cNvPr id="31" name="Text 29"/>
          <p:cNvSpPr/>
          <p:nvPr/>
        </p:nvSpPr>
        <p:spPr>
          <a:xfrm>
            <a:off x="8084538" y="5576887"/>
            <a:ext cx="96269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[9]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199531" y="5340350"/>
            <a:ext cx="1191389" cy="958850"/>
          </a:xfrm>
          <a:prstGeom prst="rect">
            <a:avLst/>
          </a:prstGeom>
          <a:solidFill>
            <a:srgbClr val="FFE83D"/>
          </a:solidFill>
          <a:ln/>
        </p:spPr>
      </p:sp>
      <p:sp>
        <p:nvSpPr>
          <p:cNvPr id="33" name="Text 31"/>
          <p:cNvSpPr/>
          <p:nvPr/>
        </p:nvSpPr>
        <p:spPr>
          <a:xfrm>
            <a:off x="9428125" y="5576887"/>
            <a:ext cx="96279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[82]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10543217" y="5340350"/>
            <a:ext cx="1191191" cy="958850"/>
          </a:xfrm>
          <a:prstGeom prst="rect">
            <a:avLst/>
          </a:prstGeom>
          <a:solidFill>
            <a:srgbClr val="FFE83D"/>
          </a:solidFill>
          <a:ln/>
        </p:spPr>
      </p:sp>
      <p:sp>
        <p:nvSpPr>
          <p:cNvPr id="35" name="Text 33"/>
          <p:cNvSpPr/>
          <p:nvPr/>
        </p:nvSpPr>
        <p:spPr>
          <a:xfrm>
            <a:off x="10771811" y="5576887"/>
            <a:ext cx="96259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[10]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457189" y="2908300"/>
            <a:ext cx="11277318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189" y="4070350"/>
            <a:ext cx="11277318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189" y="5232400"/>
            <a:ext cx="11277318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86F2E2A-6099-AF21-7E6F-F9D837487DC0}"/>
              </a:ext>
            </a:extLst>
          </p:cNvPr>
          <p:cNvSpPr/>
          <p:nvPr/>
        </p:nvSpPr>
        <p:spPr>
          <a:xfrm>
            <a:off x="10740189" y="6432550"/>
            <a:ext cx="1451811" cy="4254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MERGE COMPARES TWO SORTED HALVES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189" y="1201737"/>
            <a:ext cx="117345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Merge [27, 38] with [3, 43] by selecting the smaller front element.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189" y="17526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189" y="2108200"/>
            <a:ext cx="2590735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2296380"/>
            <a:ext cx="259073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B93C0B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Compare 27 and 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189" y="2793008"/>
            <a:ext cx="259073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select 3 → [3]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352716" y="17526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52716" y="2108200"/>
            <a:ext cx="2590735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0" name="Text 8"/>
          <p:cNvSpPr/>
          <p:nvPr/>
        </p:nvSpPr>
        <p:spPr>
          <a:xfrm>
            <a:off x="3352716" y="2296380"/>
            <a:ext cx="2590735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B93C0B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Compare 27 and 43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52716" y="3114278"/>
            <a:ext cx="259073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select 27 → [3, 27]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48244" y="17526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48244" y="2108200"/>
            <a:ext cx="2590735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2296380"/>
            <a:ext cx="2590735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B93C0B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Compare 38 and 43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48244" y="3114278"/>
            <a:ext cx="2590735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select 38 → [3, 27, 38]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3771" y="17526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143771" y="2108200"/>
            <a:ext cx="2590735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8" name="Text 16"/>
          <p:cNvSpPr/>
          <p:nvPr/>
        </p:nvSpPr>
        <p:spPr>
          <a:xfrm>
            <a:off x="9143771" y="2296380"/>
            <a:ext cx="259073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Left half is empty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3771" y="2793008"/>
            <a:ext cx="2590735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append 43 → [3, 27, 38, 43]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189" y="3995341"/>
            <a:ext cx="5486263" cy="190242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21" name="Text 19"/>
          <p:cNvSpPr/>
          <p:nvPr/>
        </p:nvSpPr>
        <p:spPr>
          <a:xfrm>
            <a:off x="711182" y="4215271"/>
            <a:ext cx="497827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Two pointers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1182" y="4711898"/>
            <a:ext cx="49782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Track the current element in each half. Advance the pointer that supplied the smaller value.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48244" y="3995341"/>
            <a:ext cx="5486263" cy="1902420"/>
          </a:xfrm>
          <a:prstGeom prst="rect">
            <a:avLst/>
          </a:prstGeom>
          <a:solidFill>
            <a:srgbClr val="FFE83D"/>
          </a:solidFill>
          <a:ln/>
        </p:spPr>
      </p:sp>
      <p:sp>
        <p:nvSpPr>
          <p:cNvPr id="24" name="Text 22"/>
          <p:cNvSpPr/>
          <p:nvPr/>
        </p:nvSpPr>
        <p:spPr>
          <a:xfrm>
            <a:off x="6502237" y="4215271"/>
            <a:ext cx="497827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Linear merge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02237" y="4711898"/>
            <a:ext cx="4978275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Once one half is exhausted, append the remainder. One merge takes linear time.</a:t>
            </a:r>
            <a:endParaRPr lang="en-US" sz="2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F5F36C-9163-B227-B6DF-7BFA5EF57C1E}"/>
              </a:ext>
            </a:extLst>
          </p:cNvPr>
          <p:cNvSpPr/>
          <p:nvPr/>
        </p:nvSpPr>
        <p:spPr>
          <a:xfrm>
            <a:off x="10740189" y="6432550"/>
            <a:ext cx="1451811" cy="4254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ONE COMPLETE EXECUTION, FROM SPLIT TO SORT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189" y="1379537"/>
            <a:ext cx="112773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Split until singletons: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[38] [27] [43] [3] [9] [82] [10]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189" y="2137866"/>
            <a:ext cx="112773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[38] + [27] → </a:t>
            </a:r>
            <a:r>
              <a:rPr lang="en-US" sz="2000" dirty="0">
                <a:solidFill>
                  <a:srgbClr val="0A7F62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[27, 38]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189" y="2896195"/>
            <a:ext cx="112773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[43] + [3] → </a:t>
            </a:r>
            <a:r>
              <a:rPr lang="en-US" sz="2000" dirty="0">
                <a:solidFill>
                  <a:srgbClr val="0A7F62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[3, 43]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189" y="3654524"/>
            <a:ext cx="112773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[9] + [82] → </a:t>
            </a:r>
            <a:r>
              <a:rPr lang="en-US" sz="2000" dirty="0">
                <a:solidFill>
                  <a:srgbClr val="0A7F62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[9, 82]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189" y="4412853"/>
            <a:ext cx="112773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[27, 38] + [3, 43] → </a:t>
            </a:r>
            <a:r>
              <a:rPr lang="en-US" sz="2000" dirty="0">
                <a:solidFill>
                  <a:srgbClr val="0A7F62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[3, 27, 38, 43]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189" y="5171281"/>
            <a:ext cx="112773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[9, 82] + [10] → </a:t>
            </a:r>
            <a:r>
              <a:rPr lang="en-US" sz="2000" dirty="0">
                <a:solidFill>
                  <a:srgbClr val="0A7F62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[9, 10, 82]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189" y="5743972"/>
            <a:ext cx="11277318" cy="656828"/>
          </a:xfrm>
          <a:custGeom>
            <a:avLst/>
            <a:gdLst/>
            <a:ahLst/>
            <a:cxnLst/>
            <a:rect l="l" t="t" r="r" b="b"/>
            <a:pathLst>
              <a:path w="11277318" h="656828">
                <a:moveTo>
                  <a:pt x="0" y="0"/>
                </a:moveTo>
                <a:lnTo>
                  <a:pt x="11277318" y="0"/>
                </a:lnTo>
                <a:lnTo>
                  <a:pt x="11277318" y="625078"/>
                </a:lnTo>
                <a:arcTo wR="31749" hR="31750" stAng="0" swAng="5400000"/>
                <a:lnTo>
                  <a:pt x="31749" y="656828"/>
                </a:lnTo>
                <a:arcTo wR="31749" hR="31750" stAng="5400000" swAng="5400000"/>
                <a:lnTo>
                  <a:pt x="0" y="0"/>
                </a:lnTo>
                <a:close/>
              </a:path>
            </a:pathLst>
          </a:custGeom>
          <a:solidFill>
            <a:srgbClr val="3DDBB0"/>
          </a:solidFill>
          <a:ln/>
        </p:spPr>
      </p:sp>
      <p:sp>
        <p:nvSpPr>
          <p:cNvPr id="10" name="Text 8"/>
          <p:cNvSpPr/>
          <p:nvPr/>
        </p:nvSpPr>
        <p:spPr>
          <a:xfrm>
            <a:off x="660383" y="5878909"/>
            <a:ext cx="1107412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[3, 27, 38, 43] + [9, 10, 82]</a:t>
            </a:r>
            <a:r>
              <a:rPr lang="en-US" sz="20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→ </a:t>
            </a:r>
            <a:r>
              <a:rPr lang="en-US" sz="20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[3, 9, 10, 27, 38, 43, 82]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189" y="1945779"/>
            <a:ext cx="11277318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189" y="2704108"/>
            <a:ext cx="11277318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189" y="3462437"/>
            <a:ext cx="11277318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189" y="4220766"/>
            <a:ext cx="11277318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189" y="4979194"/>
            <a:ext cx="11277318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189" y="5737622"/>
            <a:ext cx="11277318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4F20DE-1A4A-A225-5359-D4BF35267A63}"/>
              </a:ext>
            </a:extLst>
          </p:cNvPr>
          <p:cNvSpPr/>
          <p:nvPr/>
        </p:nvSpPr>
        <p:spPr>
          <a:xfrm>
            <a:off x="10740189" y="6432550"/>
            <a:ext cx="1451811" cy="4254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THE RECURSIVE ALGORITHM IN PSEUDOCODE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189" y="1193800"/>
            <a:ext cx="6949306" cy="520700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4" name="Shape 2"/>
          <p:cNvSpPr/>
          <p:nvPr/>
        </p:nvSpPr>
        <p:spPr>
          <a:xfrm>
            <a:off x="761981" y="1733550"/>
            <a:ext cx="6339721" cy="2946400"/>
          </a:xfrm>
          <a:prstGeom prst="roundRect">
            <a:avLst>
              <a:gd name="adj" fmla="val 1293"/>
            </a:avLst>
          </a:prstGeom>
          <a:solidFill>
            <a:srgbClr val="F1F4FD"/>
          </a:solidFill>
          <a:ln/>
        </p:spPr>
      </p:sp>
      <p:sp>
        <p:nvSpPr>
          <p:cNvPr id="5" name="Text 3"/>
          <p:cNvSpPr/>
          <p:nvPr/>
        </p:nvSpPr>
        <p:spPr>
          <a:xfrm>
            <a:off x="1066773" y="1987550"/>
            <a:ext cx="5730136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MERGE_SORT(A, left, right):</a:t>
            </a:r>
            <a:endParaRPr lang="en-US" sz="2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left &lt; right:</a:t>
            </a:r>
            <a:endParaRPr lang="en-US" sz="2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mid = floor((left + right) / 2)</a:t>
            </a:r>
            <a:endParaRPr lang="en-US" sz="2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MERGE_SORT(A, left, mid)</a:t>
            </a:r>
            <a:endParaRPr lang="en-US" sz="2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MERGE_SORT(A, mid + 1, right)</a:t>
            </a:r>
            <a:endParaRPr lang="en-US" sz="2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MERGE(A, left, mid, right)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11188" y="2495810"/>
            <a:ext cx="402331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Base condition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11188" y="2992437"/>
            <a:ext cx="402331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left &lt; right means more than one element remains.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11188" y="3966430"/>
            <a:ext cx="402331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Order matters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11188" y="4463058"/>
            <a:ext cx="402331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Sort the left half, sort the right half, then merge.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11188" y="3790950"/>
            <a:ext cx="4023319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846363-7E52-D546-FD9D-AD140AE4FF14}"/>
              </a:ext>
            </a:extLst>
          </p:cNvPr>
          <p:cNvSpPr/>
          <p:nvPr/>
        </p:nvSpPr>
        <p:spPr>
          <a:xfrm>
            <a:off x="10740189" y="6432550"/>
            <a:ext cx="1451811" cy="4254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MERGE DETAILS, STABILITY, AND MEMORY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189" y="1193800"/>
            <a:ext cx="3555911" cy="5207000"/>
          </a:xfrm>
          <a:prstGeom prst="roundRect">
            <a:avLst>
              <a:gd name="adj" fmla="val 1071"/>
            </a:avLst>
          </a:prstGeom>
          <a:solidFill>
            <a:srgbClr val="D2D8F9"/>
          </a:solidFill>
          <a:ln/>
        </p:spPr>
      </p:sp>
      <p:sp>
        <p:nvSpPr>
          <p:cNvPr id="4" name="Text 2"/>
          <p:cNvSpPr/>
          <p:nvPr/>
        </p:nvSpPr>
        <p:spPr>
          <a:xfrm>
            <a:off x="685783" y="1439130"/>
            <a:ext cx="309872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Merge function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783" y="1935758"/>
            <a:ext cx="3098722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Use temporary storage. Compare front elements, copy the smaller value, advance its pointer, append leftovers, then copy back.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317892" y="1193800"/>
            <a:ext cx="3555911" cy="5207000"/>
          </a:xfrm>
          <a:prstGeom prst="roundRect">
            <a:avLst>
              <a:gd name="adj" fmla="val 1071"/>
            </a:avLst>
          </a:prstGeom>
          <a:solidFill>
            <a:srgbClr val="D2D8F9"/>
          </a:solidFill>
          <a:ln/>
        </p:spPr>
      </p:sp>
      <p:sp>
        <p:nvSpPr>
          <p:cNvPr id="7" name="Text 5"/>
          <p:cNvSpPr/>
          <p:nvPr/>
        </p:nvSpPr>
        <p:spPr>
          <a:xfrm>
            <a:off x="4546486" y="1439130"/>
            <a:ext cx="309872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Stability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46486" y="1935758"/>
            <a:ext cx="3098722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Equal keys keep their original relative order. Choose from the left half first when keys are equal.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46486" y="3399750"/>
            <a:ext cx="309872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[(5, A), (3, B), (5, C)] → [(3, B), (5, A), (5, C)]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78595" y="1193800"/>
            <a:ext cx="3555911" cy="5207000"/>
          </a:xfrm>
          <a:prstGeom prst="roundRect">
            <a:avLst>
              <a:gd name="adj" fmla="val 1071"/>
            </a:avLst>
          </a:prstGeom>
          <a:solidFill>
            <a:srgbClr val="D2D8F9"/>
          </a:solidFill>
          <a:ln/>
        </p:spPr>
      </p:sp>
      <p:sp>
        <p:nvSpPr>
          <p:cNvPr id="11" name="Text 9"/>
          <p:cNvSpPr/>
          <p:nvPr/>
        </p:nvSpPr>
        <p:spPr>
          <a:xfrm>
            <a:off x="8407190" y="1439130"/>
            <a:ext cx="309872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Auxiliary space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407190" y="1935758"/>
            <a:ext cx="3098722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Temporary array: O(n). Recursion stack: O(log n). Therefore, O(n) dominates.</a:t>
            </a: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52C990-8F0B-1412-0D21-E2767E7C6D27}"/>
              </a:ext>
            </a:extLst>
          </p:cNvPr>
          <p:cNvSpPr/>
          <p:nvPr/>
        </p:nvSpPr>
        <p:spPr>
          <a:xfrm>
            <a:off x="10740189" y="6432550"/>
            <a:ext cx="1451811" cy="4254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WHY EVERY CASE IS O(N LOG N)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189" y="1193800"/>
            <a:ext cx="4023220" cy="4238526"/>
          </a:xfrm>
          <a:prstGeom prst="rect">
            <a:avLst/>
          </a:prstGeom>
          <a:solidFill>
            <a:srgbClr val="FFE83D"/>
          </a:solidFill>
          <a:ln/>
        </p:spPr>
      </p:sp>
      <p:sp>
        <p:nvSpPr>
          <p:cNvPr id="4" name="Text 2"/>
          <p:cNvSpPr/>
          <p:nvPr/>
        </p:nvSpPr>
        <p:spPr>
          <a:xfrm>
            <a:off x="685783" y="1532192"/>
            <a:ext cx="3566031" cy="2816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400" kern="100" spc="-42" dirty="0">
                <a:solidFill>
                  <a:srgbClr val="00000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T(N) = 2T(N/2) + O(N)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85783" y="4525863"/>
            <a:ext cx="3566031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Two recursive halves plus linear-time merging.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85101" y="14224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85101" y="1778000"/>
            <a:ext cx="2113207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8" name="Text 6"/>
          <p:cNvSpPr/>
          <p:nvPr/>
        </p:nvSpPr>
        <p:spPr>
          <a:xfrm>
            <a:off x="4785101" y="1966180"/>
            <a:ext cx="211320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Divide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85101" y="2462808"/>
            <a:ext cx="2113207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About log₂(n) levels until singletons.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203101" y="14224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203101" y="1778000"/>
            <a:ext cx="2113307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2" name="Text 10"/>
          <p:cNvSpPr/>
          <p:nvPr/>
        </p:nvSpPr>
        <p:spPr>
          <a:xfrm>
            <a:off x="7203101" y="1966180"/>
            <a:ext cx="211330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Merge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203101" y="2462808"/>
            <a:ext cx="2113307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Each level processes about n elements.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621200" y="1193800"/>
            <a:ext cx="2113207" cy="2480270"/>
          </a:xfrm>
          <a:prstGeom prst="rect">
            <a:avLst/>
          </a:prstGeom>
          <a:solidFill>
            <a:srgbClr val="3DDBB0"/>
          </a:solidFill>
          <a:ln/>
        </p:spPr>
      </p:sp>
      <p:sp>
        <p:nvSpPr>
          <p:cNvPr id="15" name="Text 13"/>
          <p:cNvSpPr/>
          <p:nvPr/>
        </p:nvSpPr>
        <p:spPr>
          <a:xfrm>
            <a:off x="9849794" y="14224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849794" y="1778000"/>
            <a:ext cx="1656019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7" name="Text 15"/>
          <p:cNvSpPr/>
          <p:nvPr/>
        </p:nvSpPr>
        <p:spPr>
          <a:xfrm>
            <a:off x="9849794" y="1966180"/>
            <a:ext cx="165601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Total work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849794" y="2462808"/>
            <a:ext cx="165601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n × log₂(n) → O(n log n)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189" y="5668863"/>
            <a:ext cx="353051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Best case</a:t>
            </a:r>
            <a:endParaRPr lang="en-US" sz="2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O(n log n)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444889" y="5668863"/>
            <a:ext cx="330191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Average case</a:t>
            </a:r>
            <a:endParaRPr lang="en-US" sz="2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O(n log n)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03995" y="5668863"/>
            <a:ext cx="353051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Worst case</a:t>
            </a:r>
            <a:endParaRPr lang="en-US" sz="2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O(n log n)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206770" y="5660926"/>
            <a:ext cx="19050" cy="6604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23" name="Shape 21"/>
          <p:cNvSpPr/>
          <p:nvPr/>
        </p:nvSpPr>
        <p:spPr>
          <a:xfrm>
            <a:off x="7965876" y="5660926"/>
            <a:ext cx="19050" cy="6604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92C2EA-0BF0-D818-5119-BC82C930A7C3}"/>
              </a:ext>
            </a:extLst>
          </p:cNvPr>
          <p:cNvSpPr/>
          <p:nvPr/>
        </p:nvSpPr>
        <p:spPr>
          <a:xfrm>
            <a:off x="10740189" y="6432550"/>
            <a:ext cx="1451811" cy="4254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950"/>
            <a:ext cx="680703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STRENGTHS, TRADE-OFFS, AND APPLICATIONS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189" y="1693130"/>
            <a:ext cx="680703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189" y="2189758"/>
            <a:ext cx="680703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Guaranteed O(n log n), stable when implemented appropriately, predictable across input orders, strong for large datasets, external sorting, and linked lists.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189" y="3428763"/>
            <a:ext cx="680703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189" y="3925391"/>
            <a:ext cx="680703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Standard arrays need extra memory. Recursion adds overhead. Insertion sort can win on tiny arrays, and in-place variants are more complex.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189" y="5164397"/>
            <a:ext cx="680703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189" y="5661025"/>
            <a:ext cx="680703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External file sorting, linked-list sorting, stable multi-field records, and predictable data-processing pipelines.</a:t>
            </a:r>
            <a:endParaRPr lang="en-US" sz="2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404" y="254000"/>
            <a:ext cx="3987700" cy="6604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5E805E4-FA66-F035-586B-527CDBA57967}"/>
              </a:ext>
            </a:extLst>
          </p:cNvPr>
          <p:cNvSpPr/>
          <p:nvPr/>
        </p:nvSpPr>
        <p:spPr>
          <a:xfrm>
            <a:off x="10740189" y="6432550"/>
            <a:ext cx="1451811" cy="4254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18021" cy="1812647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3" name="Text 1"/>
          <p:cNvSpPr/>
          <p:nvPr/>
        </p:nvSpPr>
        <p:spPr>
          <a:xfrm>
            <a:off x="410447" y="204555"/>
            <a:ext cx="2997125" cy="1403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545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MERGE SORT IN CONTEXT</a:t>
            </a:r>
            <a:endParaRPr lang="en-US" sz="5450" dirty="0"/>
          </a:p>
        </p:txBody>
      </p:sp>
      <p:sp>
        <p:nvSpPr>
          <p:cNvPr id="4" name="Shape 2"/>
          <p:cNvSpPr/>
          <p:nvPr/>
        </p:nvSpPr>
        <p:spPr>
          <a:xfrm>
            <a:off x="4368691" y="0"/>
            <a:ext cx="7823004" cy="3128211"/>
          </a:xfrm>
          <a:prstGeom prst="rect">
            <a:avLst/>
          </a:prstGeom>
          <a:solidFill>
            <a:srgbClr val="F1F4FD"/>
          </a:solidFill>
          <a:ln/>
        </p:spPr>
        <p:txBody>
          <a:bodyPr/>
          <a:lstStyle/>
          <a:p>
            <a:endParaRPr lang="en-IN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5879" y="457200"/>
          <a:ext cx="6908628" cy="1806604"/>
        </p:xfrm>
        <a:graphic>
          <a:graphicData uri="http://schemas.openxmlformats.org/drawingml/2006/table">
            <a:tbl>
              <a:tblPr/>
              <a:tblGrid>
                <a:gridCol w="2072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8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8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9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47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Algorithm</a:t>
                      </a:r>
                      <a:endParaRPr lang="en-US" sz="17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64794" marR="164794" marT="87890" marB="87890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Best</a:t>
                      </a:r>
                      <a:endParaRPr lang="en-US" sz="17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64794" marR="164794" marT="87890" marB="87890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Average</a:t>
                      </a:r>
                      <a:endParaRPr lang="en-US" sz="17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64794" marR="164794" marT="87890" marB="87890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Worst</a:t>
                      </a:r>
                      <a:endParaRPr lang="en-US" sz="17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64794" marR="164794" marT="87890" marB="87890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7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Merge Sort</a:t>
                      </a:r>
                      <a:endParaRPr lang="en-US" sz="17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64794" marR="164794" marT="87890" marB="87890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O(n log n)</a:t>
                      </a:r>
                      <a:endParaRPr lang="en-US" sz="17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64794" marR="164794" marT="87890" marB="87890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O(n log n)</a:t>
                      </a:r>
                      <a:endParaRPr lang="en-US" sz="17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64794" marR="164794" marT="87890" marB="87890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O(n log n)</a:t>
                      </a:r>
                      <a:endParaRPr lang="en-US" sz="17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64794" marR="164794" marT="87890" marB="87890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7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Quick Sort</a:t>
                      </a:r>
                      <a:endParaRPr lang="en-US" sz="17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64794" marR="164794" marT="87890" marB="87890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O(n log n)</a:t>
                      </a:r>
                      <a:endParaRPr lang="en-US" sz="17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64794" marR="164794" marT="87890" marB="87890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O(n log n)</a:t>
                      </a:r>
                      <a:endParaRPr lang="en-US" sz="17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64794" marR="164794" marT="87890" marB="87890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O(n²)</a:t>
                      </a:r>
                      <a:endParaRPr lang="en-US" sz="17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64794" marR="164794" marT="87890" marB="87890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Bubble Sort</a:t>
                      </a:r>
                      <a:endParaRPr lang="en-US" sz="17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64794" marR="164794" marT="87890" marB="87890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O(n)*</a:t>
                      </a:r>
                      <a:endParaRPr lang="en-US" sz="17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64794" marR="164794" marT="87890" marB="87890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O(n²)</a:t>
                      </a:r>
                      <a:endParaRPr lang="en-US" sz="17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64794" marR="164794" marT="87890" marB="87890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0A1540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O(n²)</a:t>
                      </a:r>
                      <a:endParaRPr lang="en-US" sz="17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64794" marR="164794" marT="87890" marB="87890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25879" y="2462235"/>
            <a:ext cx="6908627" cy="513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*Bubble Sort reaches O(n) best case when its implementation detects that no swaps are needed.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0" y="4041577"/>
            <a:ext cx="12191695" cy="2816324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8" name="Text 5"/>
          <p:cNvSpPr/>
          <p:nvPr/>
        </p:nvSpPr>
        <p:spPr>
          <a:xfrm>
            <a:off x="457189" y="4508382"/>
            <a:ext cx="11277318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75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Merge Sort:</a:t>
            </a:r>
            <a:r>
              <a:rPr lang="en-US" sz="175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predictable performance, stability, and O(n) auxiliary space. Choose based on input size, memory, stability needs, and implementation.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57189" y="5202634"/>
            <a:ext cx="11277318" cy="949226"/>
          </a:xfrm>
          <a:prstGeom prst="rect">
            <a:avLst/>
          </a:prstGeom>
          <a:solidFill>
            <a:srgbClr val="3DDBB0"/>
          </a:solidFill>
          <a:ln/>
        </p:spPr>
      </p:sp>
      <p:sp>
        <p:nvSpPr>
          <p:cNvPr id="10" name="Text 7"/>
          <p:cNvSpPr/>
          <p:nvPr/>
        </p:nvSpPr>
        <p:spPr>
          <a:xfrm>
            <a:off x="609585" y="5355034"/>
            <a:ext cx="10972526" cy="644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000"/>
              </a:lnSpc>
              <a:spcAft>
                <a:spcPts val="850"/>
              </a:spcAft>
              <a:buNone/>
            </a:pPr>
            <a:r>
              <a:rPr lang="en-US" sz="175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Divide → Sort → Merge</a:t>
            </a:r>
            <a:endParaRPr lang="en-US" sz="175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[38, 27, 43, 3, 9, 82, 10] → [3, 9, 10, 27, 38, 43, 82]</a:t>
            </a:r>
            <a:endParaRPr lang="en-US" sz="1750" dirty="0"/>
          </a:p>
        </p:txBody>
      </p:sp>
      <p:sp>
        <p:nvSpPr>
          <p:cNvPr id="5" name="Text 8"/>
          <p:cNvSpPr/>
          <p:nvPr/>
        </p:nvSpPr>
        <p:spPr>
          <a:xfrm>
            <a:off x="457189" y="6504656"/>
            <a:ext cx="11277318" cy="328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3000"/>
              </a:lnSpc>
              <a:buNone/>
            </a:pPr>
            <a:r>
              <a:rPr lang="en-US" sz="2950" kern="100" spc="-15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THANK YOU!</a:t>
            </a:r>
            <a:endParaRPr lang="en-US" sz="2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1001</Words>
  <Application>Microsoft Office PowerPoint</Application>
  <PresentationFormat>Widescreen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Consolas</vt:lpstr>
      <vt:lpstr>Host Grotesk Bold</vt:lpstr>
      <vt:lpstr>Host Grotesk</vt:lpstr>
      <vt:lpstr>Host Grotesk SemiBold</vt:lpstr>
      <vt:lpstr>Arial</vt:lpstr>
      <vt:lpstr>Red Hat Mono SemiBold</vt:lpstr>
      <vt:lpstr>Sofia Sans Extra Condensed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Om Mahajan</cp:lastModifiedBy>
  <cp:revision>2</cp:revision>
  <dcterms:created xsi:type="dcterms:W3CDTF">2026-10-18T14:17:13Z</dcterms:created>
  <dcterms:modified xsi:type="dcterms:W3CDTF">2026-10-19T04:46:52Z</dcterms:modified>
</cp:coreProperties>
</file>